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Oswald Medium"/>
      <p:regular r:id="rId16"/>
      <p:bold r:id="rId17"/>
    </p:embeddedFont>
    <p:embeddedFont>
      <p:font typeface="Source Code Pro"/>
      <p:regular r:id="rId18"/>
      <p:bold r:id="rId19"/>
      <p:italic r:id="rId20"/>
      <p:boldItalic r:id="rId21"/>
    </p:embeddedFont>
    <p:embeddedFont>
      <p:font typeface="Oswald Light"/>
      <p:regular r:id="rId22"/>
      <p:bold r:id="rId23"/>
    </p:embeddedFont>
    <p:embeddedFont>
      <p:font typeface="Oswald SemiBold"/>
      <p:regular r:id="rId24"/>
      <p:bold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italic.fntdata"/><Relationship Id="rId22" Type="http://schemas.openxmlformats.org/officeDocument/2006/relationships/font" Target="fonts/OswaldLight-regular.fntdata"/><Relationship Id="rId21" Type="http://schemas.openxmlformats.org/officeDocument/2006/relationships/font" Target="fonts/SourceCodePro-boldItalic.fntdata"/><Relationship Id="rId24" Type="http://schemas.openxmlformats.org/officeDocument/2006/relationships/font" Target="fonts/OswaldSemiBold-regular.fntdata"/><Relationship Id="rId23" Type="http://schemas.openxmlformats.org/officeDocument/2006/relationships/font" Target="fonts/Oswald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regular.fntdata"/><Relationship Id="rId25" Type="http://schemas.openxmlformats.org/officeDocument/2006/relationships/font" Target="fonts/OswaldSemiBold-bold.fntdata"/><Relationship Id="rId27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Medium-bold.fntdata"/><Relationship Id="rId16" Type="http://schemas.openxmlformats.org/officeDocument/2006/relationships/font" Target="fonts/OswaldMedium-regular.fntdata"/><Relationship Id="rId19" Type="http://schemas.openxmlformats.org/officeDocument/2006/relationships/font" Target="fonts/SourceCodePro-bold.fntdata"/><Relationship Id="rId18" Type="http://schemas.openxmlformats.org/officeDocument/2006/relationships/font" Target="fonts/SourceCodeP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MATTEAS SLIDE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8836bf0f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8836bf0f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 Collab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to graph of where students get different financial aid (anecdotes of what we use are spoken only)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bc0c6b5bc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bc0c6b5bc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Matteas SLIDE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BAG isn’t just about budgeting.</a:t>
            </a:r>
            <a:br>
              <a:rPr lang="en"/>
            </a:br>
            <a:r>
              <a:rPr lang="en"/>
              <a:t> It’s about independence.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College is the first time many of us manage money on our own—</a:t>
            </a:r>
            <a:br>
              <a:rPr lang="en"/>
            </a:br>
            <a:r>
              <a:rPr lang="en"/>
              <a:t> And that can be stressful.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didn’t build BAG because students need another finance app.</a:t>
            </a:r>
            <a:br>
              <a:rPr lang="en"/>
            </a:br>
            <a:r>
              <a:rPr lang="en"/>
              <a:t> We built it because students need clarity.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BAG is about giving you control and confidence.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now, we’re going to show you how it works.</a:t>
            </a:r>
            <a:br>
              <a:rPr lang="en"/>
            </a:br>
            <a:r>
              <a:rPr lang="en"/>
              <a:t> Are you ready, let started…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8836bf0f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8836bf0f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JOEYS SLIDE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Financial aid usually comes in one big deposit at the start of the semester.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And when that money hits—it feels like a lot.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the semester doesn’t move in one payment.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Rent is monthly.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Groceries are weekly.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Textbooks hit immediately.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And the semester lasts 8 to 16 weeks.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 many of you have struggled managing your money across a semester…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or know what that feels like?”**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(Pause. Look around.)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**“Exactly. Most of us have.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issue isn’t that students don’t receive money—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it’s that the timing doesn’t match how real life expenses happen.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8836bf0f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8836bf0f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PAULS SLIDE (1MIN)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8836bf0f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8836bf0f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LOFFERTS SLIDE possibly change the photo to include statements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8836bf0f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8836bf0f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LOFFERTS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8836bf0f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8836bf0f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PAULS SLIDE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8836bf0f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8836bf0f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MATTEAS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Move the </a:t>
            </a:r>
            <a:r>
              <a:rPr lang="en"/>
              <a:t>triangle possibly to center photo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8836bf0f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8836bf0f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JOEYS SLIDE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BAG isn’t just about budgeting.</a:t>
            </a:r>
            <a:br>
              <a:rPr lang="en"/>
            </a:br>
            <a:r>
              <a:rPr lang="en"/>
              <a:t> It’s about independence.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College is the first time many of us manage money on our own—</a:t>
            </a:r>
            <a:br>
              <a:rPr lang="en"/>
            </a:br>
            <a:r>
              <a:rPr lang="en"/>
              <a:t> And that can be stressful.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didn’t build BAG because students need another finance app.</a:t>
            </a:r>
            <a:br>
              <a:rPr lang="en"/>
            </a:br>
            <a:r>
              <a:rPr lang="en"/>
              <a:t> We built it because students need clarity.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BAG is about giving you control and confidence.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now, we’re going to show you how it works.</a:t>
            </a:r>
            <a:br>
              <a:rPr lang="en"/>
            </a:br>
            <a:r>
              <a:rPr lang="en"/>
              <a:t> Are you ready, let started…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5" y="0"/>
            <a:ext cx="9144000" cy="15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11175" y="1758600"/>
            <a:ext cx="82824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267750"/>
            <a:ext cx="8520600" cy="120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2048200"/>
            <a:ext cx="8520600" cy="27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1429063" y="2398175"/>
            <a:ext cx="62859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We all fund our education differently — but we all face the same semester. </a:t>
            </a:r>
            <a:endParaRPr sz="2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Bills don't pause. Tuition doesn't shrink. </a:t>
            </a:r>
            <a:endParaRPr sz="2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Money runs out no matter what situation you're in. </a:t>
            </a:r>
            <a:endParaRPr sz="2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6275" l="0" r="1990" t="7652"/>
          <a:stretch/>
        </p:blipFill>
        <p:spPr>
          <a:xfrm>
            <a:off x="3469274" y="57875"/>
            <a:ext cx="2205466" cy="14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467800" y="1541375"/>
            <a:ext cx="42084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3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 Semester-Based Financial Survival System for College Students</a:t>
            </a:r>
            <a:endParaRPr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076700" y="162750"/>
            <a:ext cx="3000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3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Mattea • Loffert • Paul • Joey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98468" y="805375"/>
            <a:ext cx="3591300" cy="3458400"/>
          </a:xfrm>
          <a:prstGeom prst="rect">
            <a:avLst/>
          </a:prstGeom>
        </p:spPr>
        <p:txBody>
          <a:bodyPr anchorCtr="0" anchor="ctr" bIns="85575" lIns="85575" spcFirstLastPara="1" rIns="85575" wrap="square" tIns="85575">
            <a:noAutofit/>
          </a:bodyPr>
          <a:lstStyle/>
          <a:p>
            <a:pPr indent="0" lvl="0" marL="0" rtl="0" algn="l">
              <a:spcBef>
                <a:spcPts val="2246"/>
              </a:spcBef>
              <a:spcAft>
                <a:spcPts val="0"/>
              </a:spcAft>
              <a:buClr>
                <a:schemeClr val="dk1"/>
              </a:buClr>
              <a:buSzPts val="1030"/>
              <a:buFont typeface="Arial"/>
              <a:buNone/>
            </a:pPr>
            <a:r>
              <a:t/>
            </a:r>
            <a:endParaRPr b="1" sz="215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62"/>
              </a:spcBef>
              <a:spcAft>
                <a:spcPts val="1123"/>
              </a:spcAft>
              <a:buSzPts val="257"/>
              <a:buNone/>
            </a:pPr>
            <a:r>
              <a:t/>
            </a:r>
            <a:endParaRPr sz="702"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326750" y="139700"/>
            <a:ext cx="4045200" cy="1421400"/>
          </a:xfrm>
          <a:prstGeom prst="rect">
            <a:avLst/>
          </a:prstGeom>
          <a:solidFill>
            <a:srgbClr val="D3E1F1"/>
          </a:solidFill>
          <a:ln cap="flat" cmpd="sng" w="9525">
            <a:solidFill>
              <a:srgbClr val="D3E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40"/>
              <a:t>Four Students, Four Funding Systems</a:t>
            </a:r>
            <a:endParaRPr sz="3540"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203750" y="1430425"/>
            <a:ext cx="4291200" cy="3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75">
              <a:latin typeface="Oswald"/>
              <a:ea typeface="Oswald"/>
              <a:cs typeface="Oswald"/>
              <a:sym typeface="Oswald"/>
            </a:endParaRPr>
          </a:p>
          <a:p>
            <a:pPr indent="0" lvl="0" marL="1828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375">
                <a:latin typeface="Oswald"/>
                <a:ea typeface="Oswald"/>
                <a:cs typeface="Oswald"/>
                <a:sym typeface="Oswald"/>
              </a:rPr>
              <a:t>    </a:t>
            </a:r>
            <a:endParaRPr b="1"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75"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b="1" lang="en" sz="1375">
                <a:latin typeface="Oswald"/>
                <a:ea typeface="Oswald"/>
                <a:cs typeface="Oswald"/>
                <a:sym typeface="Oswald"/>
              </a:rPr>
              <a:t>Mattea:    </a:t>
            </a:r>
            <a:r>
              <a:rPr lang="en" sz="1375">
                <a:latin typeface="Oswald"/>
                <a:ea typeface="Oswald"/>
                <a:cs typeface="Oswald"/>
                <a:sym typeface="Oswald"/>
              </a:rPr>
              <a:t>MyCAA + Student Loans</a:t>
            </a:r>
            <a:endParaRPr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75"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b="1" lang="en" sz="1375">
                <a:latin typeface="Oswald"/>
                <a:ea typeface="Oswald"/>
                <a:cs typeface="Oswald"/>
                <a:sym typeface="Oswald"/>
              </a:rPr>
              <a:t>Loffert:    </a:t>
            </a:r>
            <a:r>
              <a:rPr lang="en" sz="1375">
                <a:latin typeface="Oswald"/>
                <a:ea typeface="Oswald"/>
                <a:cs typeface="Oswald"/>
                <a:sym typeface="Oswald"/>
              </a:rPr>
              <a:t>Chapter 33 GI Bill (Dependent Transfer)</a:t>
            </a:r>
            <a:endParaRPr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75"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b="1" lang="en" sz="1375">
                <a:latin typeface="Oswald"/>
                <a:ea typeface="Oswald"/>
                <a:cs typeface="Oswald"/>
                <a:sym typeface="Oswald"/>
              </a:rPr>
              <a:t>Paul:        </a:t>
            </a:r>
            <a:r>
              <a:rPr lang="en" sz="1375">
                <a:latin typeface="Oswald"/>
                <a:ea typeface="Oswald"/>
                <a:cs typeface="Oswald"/>
                <a:sym typeface="Oswald"/>
              </a:rPr>
              <a:t>FAFSA + Scholarship</a:t>
            </a:r>
            <a:endParaRPr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75"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b="1" lang="en" sz="1375">
                <a:latin typeface="Oswald"/>
                <a:ea typeface="Oswald"/>
                <a:cs typeface="Oswald"/>
                <a:sym typeface="Oswald"/>
              </a:rPr>
              <a:t>Joey:        </a:t>
            </a:r>
            <a:r>
              <a:rPr lang="en" sz="1375">
                <a:latin typeface="Oswald"/>
                <a:ea typeface="Oswald"/>
                <a:cs typeface="Oswald"/>
                <a:sym typeface="Oswald"/>
              </a:rPr>
              <a:t>FAFSA + Montgomery </a:t>
            </a:r>
            <a:r>
              <a:rPr lang="en" sz="1375">
                <a:latin typeface="Oswald"/>
                <a:ea typeface="Oswald"/>
                <a:cs typeface="Oswald"/>
                <a:sym typeface="Oswald"/>
              </a:rPr>
              <a:t>GI B</a:t>
            </a:r>
            <a:r>
              <a:rPr lang="en" sz="1375">
                <a:latin typeface="Oswald"/>
                <a:ea typeface="Oswald"/>
                <a:cs typeface="Oswald"/>
                <a:sym typeface="Oswald"/>
              </a:rPr>
              <a:t>ill</a:t>
            </a:r>
            <a:endParaRPr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75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75">
              <a:solidFill>
                <a:srgbClr val="2C3A6A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i="1" sz="1475">
              <a:solidFill>
                <a:srgbClr val="2C3A6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i="1" lang="en" sz="1475">
                <a:solidFill>
                  <a:srgbClr val="52608E"/>
                </a:solidFill>
                <a:latin typeface="Oswald"/>
                <a:ea typeface="Oswald"/>
                <a:cs typeface="Oswald"/>
                <a:sym typeface="Oswald"/>
              </a:rPr>
              <a:t>Different funding systems,  same 16-week semester.</a:t>
            </a:r>
            <a:endParaRPr i="1" sz="1475">
              <a:solidFill>
                <a:srgbClr val="52608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i="1" sz="1475">
              <a:solidFill>
                <a:srgbClr val="52608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i="1" lang="en" sz="1475">
                <a:solidFill>
                  <a:srgbClr val="52608E"/>
                </a:solidFill>
                <a:latin typeface="Oswald"/>
                <a:ea typeface="Oswald"/>
                <a:cs typeface="Oswald"/>
                <a:sym typeface="Oswald"/>
              </a:rPr>
              <a:t> Same risk of running out.</a:t>
            </a:r>
            <a:endParaRPr i="1" sz="1475">
              <a:solidFill>
                <a:srgbClr val="52608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475"/>
          </a:p>
        </p:txBody>
      </p:sp>
      <p:pic>
        <p:nvPicPr>
          <p:cNvPr id="67" name="Google Shape;67;p14" title="BAG financialaid piechart TEMP.png"/>
          <p:cNvPicPr preferRelativeResize="0"/>
          <p:nvPr/>
        </p:nvPicPr>
        <p:blipFill rotWithShape="1">
          <a:blip r:embed="rId3">
            <a:alphaModFix/>
          </a:blip>
          <a:srcRect b="11192" l="13176" r="13176" t="11192"/>
          <a:stretch/>
        </p:blipFill>
        <p:spPr>
          <a:xfrm>
            <a:off x="5449865" y="811787"/>
            <a:ext cx="3341474" cy="331098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8034644" y="517284"/>
            <a:ext cx="705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575" lIns="85575" spcFirstLastPara="1" rIns="85575" wrap="square" tIns="8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rgbClr val="D3E1F1"/>
                </a:solidFill>
                <a:latin typeface="Oswald"/>
                <a:ea typeface="Oswald"/>
                <a:cs typeface="Oswald"/>
                <a:sym typeface="Oswald"/>
              </a:rPr>
              <a:t>FAFSA</a:t>
            </a:r>
            <a:endParaRPr sz="1404">
              <a:solidFill>
                <a:srgbClr val="D3E1F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 flipH="1">
            <a:off x="7929887" y="868974"/>
            <a:ext cx="325200" cy="538200"/>
          </a:xfrm>
          <a:prstGeom prst="straightConnector1">
            <a:avLst/>
          </a:prstGeom>
          <a:noFill/>
          <a:ln cap="flat" cmpd="sng" w="26750">
            <a:solidFill>
              <a:srgbClr val="7CB05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4"/>
          <p:cNvSpPr txBox="1"/>
          <p:nvPr/>
        </p:nvSpPr>
        <p:spPr>
          <a:xfrm>
            <a:off x="5661265" y="405600"/>
            <a:ext cx="1370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575" lIns="85575" spcFirstLastPara="1" rIns="85575" wrap="square" tIns="8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rgbClr val="D3E1F1"/>
                </a:solidFill>
                <a:latin typeface="Oswald"/>
                <a:ea typeface="Oswald"/>
                <a:cs typeface="Oswald"/>
                <a:sym typeface="Oswald"/>
              </a:rPr>
              <a:t>STUDENT LOAN</a:t>
            </a:r>
            <a:endParaRPr sz="1404">
              <a:solidFill>
                <a:srgbClr val="D3E1F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852800" y="1588686"/>
            <a:ext cx="1370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575" lIns="85575" spcFirstLastPara="1" rIns="85575" wrap="square" tIns="8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rgbClr val="D3E1F1"/>
                </a:solidFill>
                <a:latin typeface="Oswald"/>
                <a:ea typeface="Oswald"/>
                <a:cs typeface="Oswald"/>
                <a:sym typeface="Oswald"/>
              </a:rPr>
              <a:t>MYCAA</a:t>
            </a:r>
            <a:endParaRPr sz="1404">
              <a:solidFill>
                <a:srgbClr val="D3E1F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188180" y="3874038"/>
            <a:ext cx="1370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575" lIns="85575" spcFirstLastPara="1" rIns="85575" wrap="square" tIns="8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rgbClr val="D3E1F1"/>
                </a:solidFill>
                <a:latin typeface="Oswald"/>
                <a:ea typeface="Oswald"/>
                <a:cs typeface="Oswald"/>
                <a:sym typeface="Oswald"/>
              </a:rPr>
              <a:t>SCHOLARSHIP</a:t>
            </a:r>
            <a:endParaRPr sz="1404">
              <a:solidFill>
                <a:srgbClr val="D3E1F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7773298" y="3956473"/>
            <a:ext cx="1370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575" lIns="85575" spcFirstLastPara="1" rIns="85575" wrap="square" tIns="8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rgbClr val="D3E1F1"/>
                </a:solidFill>
                <a:latin typeface="Oswald"/>
                <a:ea typeface="Oswald"/>
                <a:cs typeface="Oswald"/>
                <a:sym typeface="Oswald"/>
              </a:rPr>
              <a:t>GI BILL</a:t>
            </a:r>
            <a:endParaRPr sz="1404">
              <a:solidFill>
                <a:srgbClr val="D3E1F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 rot="10800000">
            <a:off x="6294698" y="706512"/>
            <a:ext cx="264300" cy="487500"/>
          </a:xfrm>
          <a:prstGeom prst="straightConnector1">
            <a:avLst/>
          </a:prstGeom>
          <a:noFill/>
          <a:ln cap="flat" cmpd="sng" w="26750">
            <a:solidFill>
              <a:srgbClr val="344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/>
          <p:nvPr/>
        </p:nvCxnSpPr>
        <p:spPr>
          <a:xfrm rot="10800000">
            <a:off x="5441890" y="1925233"/>
            <a:ext cx="456900" cy="142200"/>
          </a:xfrm>
          <a:prstGeom prst="straightConnector1">
            <a:avLst/>
          </a:prstGeom>
          <a:noFill/>
          <a:ln cap="flat" cmpd="sng" w="26750">
            <a:solidFill>
              <a:srgbClr val="5B83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>
            <a:off x="7818365" y="3469021"/>
            <a:ext cx="142200" cy="487500"/>
          </a:xfrm>
          <a:prstGeom prst="straightConnector1">
            <a:avLst/>
          </a:prstGeom>
          <a:noFill/>
          <a:ln cap="flat" cmpd="sng" w="26750">
            <a:solidFill>
              <a:srgbClr val="3D66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4"/>
          <p:cNvCxnSpPr>
            <a:endCxn id="72" idx="0"/>
          </p:cNvCxnSpPr>
          <p:nvPr/>
        </p:nvCxnSpPr>
        <p:spPr>
          <a:xfrm flipH="1">
            <a:off x="5873530" y="3296238"/>
            <a:ext cx="441900" cy="577800"/>
          </a:xfrm>
          <a:prstGeom prst="straightConnector1">
            <a:avLst/>
          </a:prstGeom>
          <a:noFill/>
          <a:ln cap="flat" cmpd="sng" w="26750">
            <a:solidFill>
              <a:srgbClr val="E3EED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671550" y="351300"/>
            <a:ext cx="7800900" cy="4440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3" name="Google Shape;83;p15" title="baglogo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900" y="1056725"/>
            <a:ext cx="5078200" cy="30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" type="subTitle"/>
          </p:nvPr>
        </p:nvSpPr>
        <p:spPr>
          <a:xfrm>
            <a:off x="411175" y="1690775"/>
            <a:ext cx="8282400" cy="33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    Expenses happen weekly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Your salary doesn’t always cover it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Aid arrives in a lump sum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The semester lasts 16 weeks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Overspending early = stress later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“The problem isn’t the amount.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It’s how you manage it.”</a:t>
            </a:r>
            <a:endParaRPr sz="2000"/>
          </a:p>
        </p:txBody>
      </p:sp>
      <p:sp>
        <p:nvSpPr>
          <p:cNvPr id="89" name="Google Shape;89;p16"/>
          <p:cNvSpPr txBox="1"/>
          <p:nvPr>
            <p:ph type="ctrTitle"/>
          </p:nvPr>
        </p:nvSpPr>
        <p:spPr>
          <a:xfrm>
            <a:off x="411175" y="374875"/>
            <a:ext cx="8282400" cy="118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Common Problem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5345C"/>
            </a:gs>
            <a:gs pos="100000">
              <a:srgbClr val="1E2B4A"/>
            </a:gs>
            <a:gs pos="100000">
              <a:srgbClr val="737373"/>
            </a:gs>
          </a:gsLst>
          <a:lin ang="0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2720500" y="1761575"/>
            <a:ext cx="4300500" cy="259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Built around monthly budgeting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Assume consistent income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No academic calendar awareness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No pacing comparison</a:t>
            </a:r>
            <a:endParaRPr sz="1900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2000575" y="1602775"/>
            <a:ext cx="53280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169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Traditional Budget Services Don’t Think in Semesters</a:t>
            </a:r>
            <a:endParaRPr b="1" sz="6308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3042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3042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303"/>
              <a:buFont typeface="Arial"/>
              <a:buNone/>
            </a:pPr>
            <a:r>
              <a:t/>
            </a:r>
            <a:endParaRPr sz="1887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779500" y="444650"/>
            <a:ext cx="74229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6AA84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Why Other Services Fail</a:t>
            </a:r>
            <a:endParaRPr sz="4000">
              <a:solidFill>
                <a:srgbClr val="6AA84F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cxnSp>
        <p:nvCxnSpPr>
          <p:cNvPr id="97" name="Google Shape;97;p17"/>
          <p:cNvCxnSpPr>
            <a:stCxn id="98" idx="1"/>
            <a:endCxn id="98" idx="1"/>
          </p:cNvCxnSpPr>
          <p:nvPr/>
        </p:nvCxnSpPr>
        <p:spPr>
          <a:xfrm>
            <a:off x="470200" y="38229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7"/>
          <p:cNvSpPr/>
          <p:nvPr/>
        </p:nvSpPr>
        <p:spPr>
          <a:xfrm>
            <a:off x="1288825" y="4200300"/>
            <a:ext cx="6751500" cy="288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42875" rotWithShape="0" algn="bl" dir="5400000" dist="28575">
              <a:srgbClr val="3E518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87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They show what you spent — not whether you’ll make it to finals.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50"/>
          </a:p>
        </p:txBody>
      </p:sp>
      <p:sp>
        <p:nvSpPr>
          <p:cNvPr id="105" name="Google Shape;105;p18"/>
          <p:cNvSpPr txBox="1"/>
          <p:nvPr>
            <p:ph type="title"/>
          </p:nvPr>
        </p:nvSpPr>
        <p:spPr>
          <a:xfrm>
            <a:off x="265500" y="280425"/>
            <a:ext cx="4045200" cy="92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Bag help?</a:t>
            </a:r>
            <a:endParaRPr/>
          </a:p>
        </p:txBody>
      </p:sp>
      <p:sp>
        <p:nvSpPr>
          <p:cNvPr id="106" name="Google Shape;106;p18"/>
          <p:cNvSpPr txBox="1"/>
          <p:nvPr>
            <p:ph idx="1" type="subTitle"/>
          </p:nvPr>
        </p:nvSpPr>
        <p:spPr>
          <a:xfrm>
            <a:off x="369600" y="1497475"/>
            <a:ext cx="3837000" cy="3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8">
                <a:latin typeface="Oswald Medium"/>
                <a:ea typeface="Oswald Medium"/>
                <a:cs typeface="Oswald Medium"/>
                <a:sym typeface="Oswald Medium"/>
              </a:rPr>
              <a:t>Built for Semester Life</a:t>
            </a:r>
            <a:endParaRPr sz="2158"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Oswald"/>
              <a:ea typeface="Oswald"/>
              <a:cs typeface="Oswald"/>
              <a:sym typeface="Oswald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Oswald"/>
              <a:buChar char="●"/>
            </a:pPr>
            <a:r>
              <a:rPr lang="en" sz="1700">
                <a:latin typeface="Oswald"/>
                <a:ea typeface="Oswald"/>
                <a:cs typeface="Oswald"/>
                <a:sym typeface="Oswald"/>
              </a:rPr>
              <a:t>Amount of semester complete</a:t>
            </a:r>
            <a:endParaRPr sz="1700">
              <a:latin typeface="Oswald"/>
              <a:ea typeface="Oswald"/>
              <a:cs typeface="Oswald"/>
              <a:sym typeface="Oswald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Oswald"/>
              <a:buChar char="●"/>
            </a:pPr>
            <a:r>
              <a:rPr lang="en" sz="1700">
                <a:latin typeface="Oswald"/>
                <a:ea typeface="Oswald"/>
                <a:cs typeface="Oswald"/>
                <a:sym typeface="Oswald"/>
              </a:rPr>
              <a:t>Track your financial aid</a:t>
            </a:r>
            <a:endParaRPr sz="1700">
              <a:latin typeface="Oswald"/>
              <a:ea typeface="Oswald"/>
              <a:cs typeface="Oswald"/>
              <a:sym typeface="Oswald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Oswald"/>
              <a:buChar char="●"/>
            </a:pPr>
            <a:r>
              <a:rPr lang="en" sz="1700">
                <a:latin typeface="Oswald"/>
                <a:ea typeface="Oswald"/>
                <a:cs typeface="Oswald"/>
                <a:sym typeface="Oswald"/>
              </a:rPr>
              <a:t>See % of funds used</a:t>
            </a:r>
            <a:endParaRPr sz="1700">
              <a:latin typeface="Oswald"/>
              <a:ea typeface="Oswald"/>
              <a:cs typeface="Oswald"/>
              <a:sym typeface="Oswald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Oswald"/>
              <a:buChar char="●"/>
            </a:pPr>
            <a:r>
              <a:rPr lang="en" sz="1700">
                <a:latin typeface="Oswald"/>
                <a:ea typeface="Oswald"/>
                <a:cs typeface="Oswald"/>
                <a:sym typeface="Oswald"/>
              </a:rPr>
              <a:t>Pace your finances across your school year in a digestible visual format</a:t>
            </a:r>
            <a:endParaRPr sz="17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487" y="76500"/>
            <a:ext cx="2615025" cy="499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4294967295" type="title"/>
          </p:nvPr>
        </p:nvSpPr>
        <p:spPr>
          <a:xfrm>
            <a:off x="516250" y="527150"/>
            <a:ext cx="4045200" cy="157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Parental Viewing - Visibility on Your Terms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5104613" y="3954000"/>
            <a:ext cx="35604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Transparency without control.</a:t>
            </a:r>
            <a:endParaRPr sz="22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5950" y="1049150"/>
            <a:ext cx="3045457" cy="2685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19"/>
          <p:cNvSpPr txBox="1"/>
          <p:nvPr/>
        </p:nvSpPr>
        <p:spPr>
          <a:xfrm>
            <a:off x="316150" y="2630150"/>
            <a:ext cx="43152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Parents cannot: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Change or restrict budgets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Log into your account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Control spending</a:t>
            </a:r>
            <a:endParaRPr i="1"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732400" y="1786225"/>
            <a:ext cx="3612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Allow only what you want to be viewed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671550" y="311975"/>
            <a:ext cx="7800900" cy="4440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045075" y="475925"/>
            <a:ext cx="3834900" cy="704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Budgeting with BAG</a:t>
            </a:r>
            <a:endParaRPr sz="30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cxnSp>
        <p:nvCxnSpPr>
          <p:cNvPr id="123" name="Google Shape;123;p20"/>
          <p:cNvCxnSpPr/>
          <p:nvPr/>
        </p:nvCxnSpPr>
        <p:spPr>
          <a:xfrm>
            <a:off x="2823150" y="1055425"/>
            <a:ext cx="366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20"/>
          <p:cNvSpPr/>
          <p:nvPr/>
        </p:nvSpPr>
        <p:spPr>
          <a:xfrm>
            <a:off x="7057200" y="3094975"/>
            <a:ext cx="1980000" cy="1943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7176800" y="3344125"/>
            <a:ext cx="1632300" cy="1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Oswald Medium"/>
                <a:ea typeface="Oswald Medium"/>
                <a:cs typeface="Oswald Medium"/>
                <a:sym typeface="Oswald Medium"/>
              </a:rPr>
              <a:t>Bag doesn’t just track money — it helps it last.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2976500" y="1209125"/>
            <a:ext cx="4031100" cy="3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Budgeting goals are tailored for student’s needs</a:t>
            </a:r>
            <a:endParaRPr sz="17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Goals can be set to a weekly, monthly, or semester track </a:t>
            </a:r>
            <a:endParaRPr sz="17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See directly what areas you’re overspending in</a:t>
            </a:r>
            <a:endParaRPr sz="17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rPr>
              <a:t>When you can see </a:t>
            </a:r>
            <a:r>
              <a:rPr lang="en" sz="16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rPr>
              <a:t>where money needs to be allocated ahead of time, you can feel safer making personal purchases </a:t>
            </a:r>
            <a:endParaRPr sz="16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16923" l="10669" r="71449" t="46416"/>
          <a:stretch/>
        </p:blipFill>
        <p:spPr>
          <a:xfrm>
            <a:off x="1030875" y="2571750"/>
            <a:ext cx="1584277" cy="1445100"/>
          </a:xfrm>
          <a:prstGeom prst="rect">
            <a:avLst/>
          </a:prstGeom>
          <a:solidFill>
            <a:schemeClr val="dk1"/>
          </a:solidFill>
          <a:ln cap="flat" cmpd="sng" w="9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18163" l="46018" r="36100" t="46315"/>
          <a:stretch/>
        </p:blipFill>
        <p:spPr>
          <a:xfrm>
            <a:off x="1030875" y="792750"/>
            <a:ext cx="1584277" cy="1400224"/>
          </a:xfrm>
          <a:prstGeom prst="rect">
            <a:avLst/>
          </a:prstGeom>
          <a:solidFill>
            <a:schemeClr val="dk1"/>
          </a:solidFill>
          <a:ln cap="flat" cmpd="sng" w="9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ctrTitle"/>
          </p:nvPr>
        </p:nvSpPr>
        <p:spPr>
          <a:xfrm>
            <a:off x="622125" y="378825"/>
            <a:ext cx="5421900" cy="8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00"/>
              <a:t>Future </a:t>
            </a:r>
            <a:r>
              <a:rPr lang="en" sz="4500"/>
              <a:t>Implementations</a:t>
            </a:r>
            <a:endParaRPr sz="4500"/>
          </a:p>
        </p:txBody>
      </p:sp>
      <p:sp>
        <p:nvSpPr>
          <p:cNvPr id="134" name="Google Shape;134;p21"/>
          <p:cNvSpPr txBox="1"/>
          <p:nvPr/>
        </p:nvSpPr>
        <p:spPr>
          <a:xfrm>
            <a:off x="236675" y="1390500"/>
            <a:ext cx="3066000" cy="3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Char char="●"/>
            </a:pPr>
            <a:r>
              <a:rPr lang="en"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Mobile app</a:t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Char char="●"/>
            </a:pPr>
            <a:r>
              <a:rPr lang="en"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Linking bank</a:t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Char char="●"/>
            </a:pPr>
            <a:r>
              <a:rPr lang="en"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Detailed Statements</a:t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Char char="●"/>
            </a:pPr>
            <a:r>
              <a:rPr lang="en"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Messages tab</a:t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Char char="●"/>
            </a:pPr>
            <a:r>
              <a:rPr lang="en"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Dark mode</a:t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8035" y="0"/>
            <a:ext cx="255596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9594" y="0"/>
            <a:ext cx="318431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/>
          <p:nvPr/>
        </p:nvSpPr>
        <p:spPr>
          <a:xfrm>
            <a:off x="671550" y="351300"/>
            <a:ext cx="7800900" cy="4440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546575" y="1951700"/>
            <a:ext cx="5018700" cy="3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Get ready to</a:t>
            </a:r>
            <a:br>
              <a:rPr lang="en" sz="4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4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Secure Your Bag</a:t>
            </a:r>
            <a:br>
              <a:rPr lang="en" sz="4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4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&amp; Own Your Independence</a:t>
            </a:r>
            <a:endParaRPr sz="4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3" name="Google Shape;143;p22" title="ChatGPT Image Feb 16, 2026, 09_00_1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788" y="934500"/>
            <a:ext cx="2440625" cy="327449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" name="Google Shape;144;p22" title="baglogotransparent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7050" y="789925"/>
            <a:ext cx="3077750" cy="146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2132250" y="4356188"/>
            <a:ext cx="48795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© 2026 Group_0 | BAG — Budgeting Aid Guide | All Rights Reserved</a:t>
            </a:r>
            <a:endParaRPr sz="7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1107750" y="4820200"/>
            <a:ext cx="69285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Presentation materials developed collaboratively by Group_0.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CFE2F3"/>
      </a:dk1>
      <a:lt1>
        <a:srgbClr val="1E2B56"/>
      </a:lt1>
      <a:dk2>
        <a:srgbClr val="63C132"/>
      </a:dk2>
      <a:lt2>
        <a:srgbClr val="999999"/>
      </a:lt2>
      <a:accent1>
        <a:srgbClr val="63C132"/>
      </a:accent1>
      <a:accent2>
        <a:srgbClr val="E8ECF6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