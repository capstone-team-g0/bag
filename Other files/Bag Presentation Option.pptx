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Oswald Medium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Permanent Marker"/>
      <p:regular r:id="rId25"/>
    </p:embeddedFont>
    <p:embeddedFont>
      <p:font typeface="Oswald SemiBold"/>
      <p:regular r:id="rId26"/>
      <p:bold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SemiBold-regular.fntdata"/><Relationship Id="rId25" Type="http://schemas.openxmlformats.org/officeDocument/2006/relationships/font" Target="fonts/PermanentMarker-regular.fntdata"/><Relationship Id="rId28" Type="http://schemas.openxmlformats.org/officeDocument/2006/relationships/font" Target="fonts/Oswald-regular.fntdata"/><Relationship Id="rId27" Type="http://schemas.openxmlformats.org/officeDocument/2006/relationships/font" Target="fonts/Oswald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swaldMedium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OswaldMedium-bold.fntdata"/><Relationship Id="rId19" Type="http://schemas.openxmlformats.org/officeDocument/2006/relationships/font" Target="fonts/SourceCodePro-italic.fntdata"/><Relationship Id="rId18" Type="http://schemas.openxmlformats.org/officeDocument/2006/relationships/font" Target="fonts/SourceCode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MATTEAS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836bf0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8836bf0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Collab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to graph of where students get different financial aid (anecdotes of what we use are spoken only)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836bf0f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836bf0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JOEYS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“Financial aid usually comes in one big deposit at the beginning of the semester. And when that money hits, it feels like a lot.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the semester doesn’t move in one big payment — it moves week by week.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Rent is monthly. Groceries are weekly. Textbooks hit immediately. And the semester lasts 16 weeks.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“How many of you actually know — right now — whether you’re going to make it financially to the end of this semester or school year?”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Pause. Look around.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“Exactly. Most of us don’t.”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issue isn’t that students don’t receive money.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that the timing doesn’t match how real life expenses happen.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matter how we’re funded — MyCAA, the GI Bill, scholarships, FAFSA — the semester moves weekly.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money doesn’t.”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Pause.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Transition.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81000" marR="381000" rtl="0" algn="ctr"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8836bf0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8836bf0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PAULS SLIDE (1MIN)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836bf0f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836bf0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LOFFERTS SLIDE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8836bf0f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8836bf0f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MATTEAS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Move the </a:t>
            </a:r>
            <a:r>
              <a:rPr lang="en"/>
              <a:t>triangle possibly to center photo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836bf0f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836bf0f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LOFFERTS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836bf0f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836bf0f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PAULS SLIDE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836bf0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8836bf0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JOEYS SLIDE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“When we started this project, we thought we were building an app.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what we realized…</a:t>
            </a:r>
            <a:br>
              <a:rPr lang="en"/>
            </a:br>
            <a:r>
              <a:rPr lang="en"/>
              <a:t> is that this isn’t just about budgeting.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about independence.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College is the first time many of us manage money on our own.</a:t>
            </a:r>
            <a:br>
              <a:rPr lang="en"/>
            </a:br>
            <a:r>
              <a:rPr lang="en"/>
              <a:t> The first time we make financial decisions without someone standing behind us.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that’s stressful.”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(Pause.)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“Quick show of hands —</a:t>
            </a:r>
            <a:br>
              <a:rPr lang="en"/>
            </a:br>
            <a:r>
              <a:rPr lang="en"/>
              <a:t> How many of you have ever worried about running out of money before the semester ended?”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Raise your hand.</a:t>
            </a:r>
            <a:br>
              <a:rPr lang="en"/>
            </a:br>
            <a:r>
              <a:rPr lang="en"/>
              <a:t> Wait 2–3 seconds.</a:t>
            </a:r>
            <a:br>
              <a:rPr lang="en"/>
            </a:br>
            <a:r>
              <a:rPr lang="en"/>
              <a:t> Look around.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“That’s exactly why Bag exists.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didn’t build this because students need another finance app.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built it because students need clarity.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funding.</a:t>
            </a:r>
            <a:br>
              <a:rPr lang="en"/>
            </a:br>
            <a:r>
              <a:rPr lang="en"/>
              <a:t> Different backgrounds.</a:t>
            </a:r>
            <a:br>
              <a:rPr lang="en"/>
            </a:br>
            <a:r>
              <a:rPr lang="en"/>
              <a:t> Same semester.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Bag isn’t about control.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about confidence.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Secure your bag.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your independence.”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Pause.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Smile.</a:t>
            </a:r>
            <a:br>
              <a:rPr lang="en"/>
            </a:br>
            <a:r>
              <a:rPr lang="en"/>
              <a:t> Step back slightly.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075" y="156000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15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35750"/>
            <a:ext cx="82824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6569400" y="4786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16750" y="1551500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267750"/>
            <a:ext cx="8520600" cy="12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2048200"/>
            <a:ext cx="8520600" cy="27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 title="BAG Logo.png"/>
          <p:cNvPicPr preferRelativeResize="0"/>
          <p:nvPr/>
        </p:nvPicPr>
        <p:blipFill rotWithShape="1">
          <a:blip r:embed="rId3">
            <a:alphaModFix/>
          </a:blip>
          <a:srcRect b="-3680" l="980" r="-980" t="3680"/>
          <a:stretch/>
        </p:blipFill>
        <p:spPr>
          <a:xfrm>
            <a:off x="2712316" y="983875"/>
            <a:ext cx="3719350" cy="37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12375" y="2571750"/>
            <a:ext cx="24126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 Semester-Based Financial Survival System for College Students</a:t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Mattea • Loffert • Paul • Joey</a:t>
            </a:r>
            <a:endParaRPr b="1"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712300" y="3838375"/>
            <a:ext cx="37194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Secure Your Bag. Own Your Independence.</a:t>
            </a:r>
            <a:endParaRPr b="1" sz="1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65" name="Google Shape;65;p13" title="BAG Logo.png"/>
          <p:cNvPicPr preferRelativeResize="0"/>
          <p:nvPr/>
        </p:nvPicPr>
        <p:blipFill rotWithShape="1">
          <a:blip r:embed="rId3">
            <a:alphaModFix/>
          </a:blip>
          <a:srcRect b="85400" l="34541" r="34092" t="-344"/>
          <a:stretch/>
        </p:blipFill>
        <p:spPr>
          <a:xfrm>
            <a:off x="3145538" y="103975"/>
            <a:ext cx="2852925" cy="12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6526700" y="1853400"/>
            <a:ext cx="2523600" cy="29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 all fund our education differently — but we all face the same semester. </a:t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Bills don't pause. Tuition doesn't shrink. </a:t>
            </a:r>
            <a:endParaRPr sz="143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3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Money runs out no matter what situation you're in. 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6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750"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326750" y="259050"/>
            <a:ext cx="4045200" cy="14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Students, Four Funding Systems</a:t>
            </a:r>
            <a:endParaRPr/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143050" y="1582325"/>
            <a:ext cx="4291200" cy="3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Our Real Funding Situations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75"/>
              <a:t>Mattea</a:t>
            </a:r>
            <a:endParaRPr b="1"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MyCAA + Student Loans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75"/>
              <a:t>Loffert</a:t>
            </a:r>
            <a:endParaRPr b="1"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Chapter 33 GI Bill (Dependent Transfer)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75"/>
              <a:t>Paul</a:t>
            </a:r>
            <a:endParaRPr b="1"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FAFSA + Scholarship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75"/>
              <a:t>Joey</a:t>
            </a:r>
            <a:endParaRPr b="1"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FAFSA + Montgomery </a:t>
            </a:r>
            <a:r>
              <a:rPr lang="en" sz="1275"/>
              <a:t>GI B</a:t>
            </a:r>
            <a:r>
              <a:rPr lang="en" sz="1275"/>
              <a:t>ill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Different funding systems.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 Same 16-week semester.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75"/>
              <a:t> Same risk of running out.</a:t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75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75"/>
          </a:p>
        </p:txBody>
      </p:sp>
      <p:pic>
        <p:nvPicPr>
          <p:cNvPr id="74" name="Google Shape;74;p14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472" y="1091322"/>
            <a:ext cx="4091050" cy="31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411175" y="1745025"/>
            <a:ext cx="8282400" cy="33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Semester Trap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Aid arrives in a lump sum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Expenses happen weekly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 semester lasts 16 weeks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Overspending early = stress later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“The problem isn’t the amount.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It’s the timing.”</a:t>
            </a:r>
            <a:endParaRPr sz="2000"/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411175" y="374875"/>
            <a:ext cx="8282400" cy="11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Common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5345C"/>
            </a:gs>
            <a:gs pos="100000">
              <a:srgbClr val="1E2B4A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54025" y="1704050"/>
            <a:ext cx="6136200" cy="241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E5188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28575">
              <a:srgbClr val="B0B0B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208975" y="1414775"/>
            <a:ext cx="8623200" cy="3099900"/>
          </a:xfrm>
          <a:prstGeom prst="rect">
            <a:avLst/>
          </a:prstGeom>
          <a:effectLst>
            <a:outerShdw blurRad="142875" rotWithShape="0" algn="bl" dir="81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6AA84F"/>
                </a:solidFill>
              </a:rPr>
              <a:t>Traditional Budget Apps Don’t Think in Semesters</a:t>
            </a:r>
            <a:endParaRPr b="1" sz="1700">
              <a:solidFill>
                <a:srgbClr val="6AA84F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●"/>
            </a:pPr>
            <a:r>
              <a:rPr lang="en" sz="1100">
                <a:solidFill>
                  <a:srgbClr val="6AA84F"/>
                </a:solidFill>
              </a:rPr>
              <a:t>Built around monthly budgeting</a:t>
            </a:r>
            <a:br>
              <a:rPr lang="en" sz="1100">
                <a:solidFill>
                  <a:srgbClr val="6AA84F"/>
                </a:solidFill>
              </a:rPr>
            </a:br>
            <a:endParaRPr sz="1100">
              <a:solidFill>
                <a:srgbClr val="6AA84F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●"/>
            </a:pPr>
            <a:r>
              <a:rPr lang="en" sz="1100">
                <a:solidFill>
                  <a:srgbClr val="6AA84F"/>
                </a:solidFill>
              </a:rPr>
              <a:t>Assume consistent income</a:t>
            </a:r>
            <a:br>
              <a:rPr lang="en" sz="1100">
                <a:solidFill>
                  <a:srgbClr val="6AA84F"/>
                </a:solidFill>
              </a:rPr>
            </a:br>
            <a:endParaRPr sz="1100">
              <a:solidFill>
                <a:srgbClr val="6AA84F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●"/>
            </a:pPr>
            <a:r>
              <a:rPr lang="en" sz="1100">
                <a:solidFill>
                  <a:srgbClr val="6AA84F"/>
                </a:solidFill>
              </a:rPr>
              <a:t>No academic calendar awareness</a:t>
            </a:r>
            <a:br>
              <a:rPr lang="en" sz="1100">
                <a:solidFill>
                  <a:srgbClr val="6AA84F"/>
                </a:solidFill>
              </a:rPr>
            </a:br>
            <a:endParaRPr sz="1100">
              <a:solidFill>
                <a:srgbClr val="6AA84F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●"/>
            </a:pPr>
            <a:r>
              <a:rPr lang="en" sz="1100">
                <a:solidFill>
                  <a:srgbClr val="6AA84F"/>
                </a:solidFill>
              </a:rPr>
              <a:t>No pacing comparison</a:t>
            </a:r>
            <a:br>
              <a:rPr lang="en" sz="1100">
                <a:solidFill>
                  <a:srgbClr val="6AA84F"/>
                </a:solidFill>
              </a:rPr>
            </a:br>
            <a:endParaRPr sz="1100">
              <a:solidFill>
                <a:srgbClr val="6AA84F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accent1"/>
                </a:solidFill>
              </a:rPr>
              <a:t>“They show what you spent — not whether you’ll make it to finals.”</a:t>
            </a:r>
            <a:endParaRPr sz="11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3274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6AA84F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Why Current Apps Fail</a:t>
            </a:r>
            <a:endParaRPr>
              <a:solidFill>
                <a:srgbClr val="6AA84F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88" name="Google Shape;88;p16"/>
          <p:cNvCxnSpPr>
            <a:stCxn id="89" idx="1"/>
            <a:endCxn id="89" idx="1"/>
          </p:cNvCxnSpPr>
          <p:nvPr/>
        </p:nvCxnSpPr>
        <p:spPr>
          <a:xfrm>
            <a:off x="470200" y="38229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6"/>
          <p:cNvCxnSpPr/>
          <p:nvPr/>
        </p:nvCxnSpPr>
        <p:spPr>
          <a:xfrm>
            <a:off x="605325" y="3759900"/>
            <a:ext cx="0" cy="1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6" title="icons8-smartphone-error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300" y="524525"/>
            <a:ext cx="465450" cy="4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524250" y="3696825"/>
            <a:ext cx="5530800" cy="28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E5188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28575">
              <a:srgbClr val="3E518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/>
          </a:p>
        </p:txBody>
      </p:sp>
      <p:pic>
        <p:nvPicPr>
          <p:cNvPr id="98" name="Google Shape;98;p17" title="Screenshot 2026-02-11 142238.png"/>
          <p:cNvPicPr preferRelativeResize="0"/>
          <p:nvPr/>
        </p:nvPicPr>
        <p:blipFill rotWithShape="1">
          <a:blip r:embed="rId3">
            <a:alphaModFix/>
          </a:blip>
          <a:srcRect b="0" l="21440" r="61349" t="27928"/>
          <a:stretch/>
        </p:blipFill>
        <p:spPr>
          <a:xfrm>
            <a:off x="5738975" y="280425"/>
            <a:ext cx="2687174" cy="45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265500" y="280425"/>
            <a:ext cx="4045200" cy="12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Bag help?</a:t>
            </a:r>
            <a:endParaRPr/>
          </a:p>
        </p:txBody>
      </p:sp>
      <p:sp>
        <p:nvSpPr>
          <p:cNvPr id="100" name="Google Shape;100;p17"/>
          <p:cNvSpPr txBox="1"/>
          <p:nvPr>
            <p:ph idx="1" type="subTitle"/>
          </p:nvPr>
        </p:nvSpPr>
        <p:spPr>
          <a:xfrm>
            <a:off x="265500" y="1925225"/>
            <a:ext cx="4045200" cy="29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for Semester Life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 can show you: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Organized spending categories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Amount of semester complete % of funds used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Divide up your finances across your semester to show you what’s “safe to spend” per week, and pace your income in a digestible visual format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ctrTitle"/>
          </p:nvPr>
        </p:nvSpPr>
        <p:spPr>
          <a:xfrm>
            <a:off x="411175" y="644300"/>
            <a:ext cx="8282400" cy="8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100"/>
              <a:t>Supportive Alerts</a:t>
            </a:r>
            <a:endParaRPr sz="6100"/>
          </a:p>
        </p:txBody>
      </p:sp>
      <p:sp>
        <p:nvSpPr>
          <p:cNvPr id="106" name="Google Shape;106;p18"/>
          <p:cNvSpPr txBox="1"/>
          <p:nvPr>
            <p:ph idx="1" type="subTitle"/>
          </p:nvPr>
        </p:nvSpPr>
        <p:spPr>
          <a:xfrm>
            <a:off x="5370775" y="2079425"/>
            <a:ext cx="3657000" cy="29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00"/>
              <a:t>Teaching Moments:</a:t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00"/>
              <a:t>“You’ve used 35% of your semester funds — we’re only at week 4.”</a:t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00"/>
              <a:t>“Housing allowance is on track.”</a:t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00"/>
              <a:t>“You’re pacing well this week.”</a:t>
            </a:r>
            <a:endParaRPr sz="19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430"/>
          </a:p>
        </p:txBody>
      </p:sp>
      <p:sp>
        <p:nvSpPr>
          <p:cNvPr id="107" name="Google Shape;107;p18"/>
          <p:cNvSpPr txBox="1"/>
          <p:nvPr/>
        </p:nvSpPr>
        <p:spPr>
          <a:xfrm>
            <a:off x="411175" y="1561400"/>
            <a:ext cx="28050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Supportive</a:t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Not judgmental</a:t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Built for independence</a:t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Optional parent notification system</a:t>
            </a:r>
            <a:endParaRPr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b="1384" l="61129" r="20342" t="4499"/>
          <a:stretch/>
        </p:blipFill>
        <p:spPr>
          <a:xfrm>
            <a:off x="3840350" y="2015950"/>
            <a:ext cx="1530424" cy="302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468825"/>
            <a:ext cx="3999900" cy="17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Viewers cannot: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See purchases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Change or restrict budgets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Control spending</a:t>
            </a:r>
            <a:endParaRPr/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372500"/>
            <a:ext cx="8520600" cy="92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Parental Viewing - Visibility on Your Terms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4832400" y="1468825"/>
            <a:ext cx="3999900" cy="17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Viewers can see: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Overall progress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Category totals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2073650" y="4056100"/>
            <a:ext cx="4898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“Transparency without control.”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-118950" y="-248725"/>
            <a:ext cx="715200" cy="749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" name="Google Shape;122;p20"/>
          <p:cNvSpPr txBox="1"/>
          <p:nvPr>
            <p:ph idx="4294967295" type="body"/>
          </p:nvPr>
        </p:nvSpPr>
        <p:spPr>
          <a:xfrm>
            <a:off x="311700" y="175475"/>
            <a:ext cx="8520600" cy="47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506250" y="318875"/>
            <a:ext cx="7800900" cy="444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699900" y="549725"/>
            <a:ext cx="7413600" cy="39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21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What it feels like to use the app</a:t>
            </a:r>
            <a:endParaRPr sz="21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17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From week 1 to finals</a:t>
            </a:r>
            <a:endParaRPr sz="17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Week 1:</a:t>
            </a:r>
            <a:endParaRPr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 Medium"/>
              <a:buChar char="●"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Clear weekly allowance. How did that help you?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Week 5: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 Medium"/>
              <a:buChar char="●"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Alerts Triggers – adjust spending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Week 12: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 Medium"/>
              <a:buChar char="●"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Still on track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Week 16: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 Medium"/>
              <a:buChar char="●"/>
            </a:pPr>
            <a:r>
              <a:rPr lang="en" sz="1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No panic</a:t>
            </a:r>
            <a:endParaRPr sz="13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311700" y="36800"/>
            <a:ext cx="540600" cy="5253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-31650" y="318875"/>
            <a:ext cx="540600" cy="5253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7" name="Google Shape;127;p20"/>
          <p:cNvCxnSpPr/>
          <p:nvPr/>
        </p:nvCxnSpPr>
        <p:spPr>
          <a:xfrm>
            <a:off x="2596100" y="996250"/>
            <a:ext cx="366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20"/>
          <p:cNvSpPr/>
          <p:nvPr/>
        </p:nvSpPr>
        <p:spPr>
          <a:xfrm>
            <a:off x="421650" y="500975"/>
            <a:ext cx="320700" cy="3189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266650" y="734350"/>
            <a:ext cx="281100" cy="261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5890750" y="2891525"/>
            <a:ext cx="1725000" cy="1623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978575" y="3162650"/>
            <a:ext cx="14232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swald Medium"/>
                <a:ea typeface="Oswald Medium"/>
                <a:cs typeface="Oswald Medium"/>
                <a:sym typeface="Oswald Medium"/>
              </a:rPr>
              <a:t>“Bag doesn’t just track money — it helps it last.</a:t>
            </a:r>
            <a:r>
              <a:rPr lang="en">
                <a:solidFill>
                  <a:schemeClr val="dk2"/>
                </a:solidFill>
              </a:rPr>
              <a:t>”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53750" y="1688050"/>
            <a:ext cx="51252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There is no “average” student.</a:t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Different funding.</a:t>
            </a:r>
            <a:b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Different pressures.</a:t>
            </a:r>
            <a:b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Same 16-week semester.</a:t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College is the first time many of us manage money alone.</a:t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You don’t need more stress.</a:t>
            </a:r>
            <a:b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You need clarity.</a:t>
            </a:r>
            <a:endParaRPr sz="4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Secure Your Bag.</a:t>
            </a:r>
            <a:b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4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Own Your Independence.</a:t>
            </a:r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196750"/>
            <a:ext cx="8520600" cy="149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9900">
                <a:latin typeface="Permanent Marker"/>
                <a:ea typeface="Permanent Marker"/>
                <a:cs typeface="Permanent Marker"/>
                <a:sym typeface="Permanent Marker"/>
              </a:rPr>
              <a:t>Why Bag?</a:t>
            </a:r>
            <a:endParaRPr i="1" sz="99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138" name="Google Shape;138;p21" title="ChatGPT Image Feb 16, 2026, 09_00_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075" y="1642275"/>
            <a:ext cx="2440625" cy="32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CFE2F3"/>
      </a:dk1>
      <a:lt1>
        <a:srgbClr val="1E2B56"/>
      </a:lt1>
      <a:dk2>
        <a:srgbClr val="63C132"/>
      </a:dk2>
      <a:lt2>
        <a:srgbClr val="999999"/>
      </a:lt2>
      <a:accent1>
        <a:srgbClr val="63C132"/>
      </a:accent1>
      <a:accent2>
        <a:srgbClr val="E8ECF6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